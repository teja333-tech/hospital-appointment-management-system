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T Sans Narrow" panose="020B050602020302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2" y="2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a71635904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a71635904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a71635904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a71635904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a71635904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a71635904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1aaf99d1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1aaf99d1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1aaf99d1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1aaf99d1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1aaf99d1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1aaf99d1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cd23046f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cd23046f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a71635904_0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a71635904_0_6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1aaf99d1a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1aaf99d1a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a71635904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a71635904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1aaf99d1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1aaf99d1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aaf99d1a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1aaf99d1a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1aaf99d1a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1aaf99d1a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cd23046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cd23046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d23046f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cd23046f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cd23046f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cd23046f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a71635904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a71635904_0_7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1aaf99d1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1aaf99d1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afc21dc75e9f3db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afc21dc75e9f3db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3"/>
          <p:cNvGrpSpPr/>
          <p:nvPr/>
        </p:nvGrpSpPr>
        <p:grpSpPr>
          <a:xfrm>
            <a:off x="1003755" y="282600"/>
            <a:ext cx="7136485" cy="4578300"/>
            <a:chOff x="598350" y="291900"/>
            <a:chExt cx="6373000" cy="4578300"/>
          </a:xfrm>
        </p:grpSpPr>
        <p:pic>
          <p:nvPicPr>
            <p:cNvPr id="67" name="Google Shape;67;p13"/>
            <p:cNvPicPr preferRelativeResize="0"/>
            <p:nvPr/>
          </p:nvPicPr>
          <p:blipFill rotWithShape="1">
            <a:blip r:embed="rId3">
              <a:alphaModFix/>
            </a:blip>
            <a:srcRect l="55780" t="11100" r="32626" b="15386"/>
            <a:stretch/>
          </p:blipFill>
          <p:spPr>
            <a:xfrm>
              <a:off x="4251775" y="627500"/>
              <a:ext cx="1059900" cy="36690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68" name="Google Shape;68;p13"/>
            <p:cNvPicPr preferRelativeResize="0"/>
            <p:nvPr/>
          </p:nvPicPr>
          <p:blipFill rotWithShape="1">
            <a:blip r:embed="rId3">
              <a:alphaModFix/>
            </a:blip>
            <a:srcRect l="65192" t="26083" r="23214" b="19958"/>
            <a:stretch/>
          </p:blipFill>
          <p:spPr>
            <a:xfrm>
              <a:off x="5311450" y="1378075"/>
              <a:ext cx="1059900" cy="26931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69" name="Google Shape;69;p13"/>
            <p:cNvPicPr preferRelativeResize="0"/>
            <p:nvPr/>
          </p:nvPicPr>
          <p:blipFill rotWithShape="1">
            <a:blip r:embed="rId3">
              <a:alphaModFix/>
            </a:blip>
            <a:srcRect l="33097" t="15922" r="55307" b="10563"/>
            <a:stretch/>
          </p:blipFill>
          <p:spPr>
            <a:xfrm>
              <a:off x="2166175" y="870500"/>
              <a:ext cx="1059900" cy="36690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70" name="Google Shape;70;p13"/>
            <p:cNvPicPr preferRelativeResize="0"/>
            <p:nvPr/>
          </p:nvPicPr>
          <p:blipFill rotWithShape="1">
            <a:blip r:embed="rId3">
              <a:alphaModFix/>
            </a:blip>
            <a:srcRect l="44693" t="4320" r="44084" b="3953"/>
            <a:stretch/>
          </p:blipFill>
          <p:spPr>
            <a:xfrm>
              <a:off x="3226075" y="291900"/>
              <a:ext cx="1025700" cy="45783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71" name="Google Shape;71;p13"/>
            <p:cNvPicPr preferRelativeResize="0"/>
            <p:nvPr/>
          </p:nvPicPr>
          <p:blipFill rotWithShape="1">
            <a:blip r:embed="rId3">
              <a:alphaModFix/>
            </a:blip>
            <a:srcRect l="22510" t="22177" r="66901" b="27222"/>
            <a:stretch/>
          </p:blipFill>
          <p:spPr>
            <a:xfrm>
              <a:off x="1198300" y="1182950"/>
              <a:ext cx="968100" cy="25257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72" name="Google Shape;72;p13"/>
            <p:cNvPicPr preferRelativeResize="0"/>
            <p:nvPr/>
          </p:nvPicPr>
          <p:blipFill rotWithShape="1">
            <a:blip r:embed="rId3">
              <a:alphaModFix/>
            </a:blip>
            <a:srcRect l="76785" t="33802" r="16650" b="36558"/>
            <a:stretch/>
          </p:blipFill>
          <p:spPr>
            <a:xfrm>
              <a:off x="6371350" y="1763150"/>
              <a:ext cx="600000" cy="14793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 rotWithShape="1">
            <a:blip r:embed="rId3">
              <a:alphaModFix/>
            </a:blip>
            <a:srcRect l="13627" t="33802" r="79809" b="36558"/>
            <a:stretch/>
          </p:blipFill>
          <p:spPr>
            <a:xfrm>
              <a:off x="598350" y="1763150"/>
              <a:ext cx="600000" cy="14793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ctrTitle"/>
          </p:nvPr>
        </p:nvSpPr>
        <p:spPr>
          <a:xfrm>
            <a:off x="1003650" y="1618500"/>
            <a:ext cx="7136700" cy="79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Hospital Appointment System 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2831250" y="4068300"/>
            <a:ext cx="348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sz="220" dirty="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3001350" y="2571750"/>
            <a:ext cx="3311400" cy="5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Using Linked List &amp;Stack</a:t>
            </a:r>
            <a:endParaRPr sz="2700" b="1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232200" y="247800"/>
            <a:ext cx="8679600" cy="46479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840"/>
              <a:t>Objectives..</a:t>
            </a:r>
            <a:endParaRPr sz="3840"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The aim of this project is to design and implement a console based Hospital Administration System that allows patient to book,view,cancel and restore appointments</a:t>
            </a:r>
            <a:endParaRPr sz="2200"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00" b="1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The system uses Linked Lists to store patient appointment details and a Stack to manage cancellations,ensuring efficient data handling.</a:t>
            </a:r>
            <a:endParaRPr sz="2200"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311700" y="1741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940"/>
              <a:t>Data Structures Used</a:t>
            </a:r>
            <a:r>
              <a:rPr lang="en-GB" sz="4140"/>
              <a:t>…</a:t>
            </a:r>
            <a:endParaRPr sz="4140"/>
          </a:p>
        </p:txBody>
      </p:sp>
      <p:sp>
        <p:nvSpPr>
          <p:cNvPr id="96" name="Google Shape;96;p16"/>
          <p:cNvSpPr/>
          <p:nvPr/>
        </p:nvSpPr>
        <p:spPr>
          <a:xfrm>
            <a:off x="214325" y="174125"/>
            <a:ext cx="8679600" cy="46479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15225" y="1017975"/>
            <a:ext cx="1768200" cy="535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1.Linked List</a:t>
            </a:r>
            <a:endParaRPr sz="27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7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7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2.Stack</a:t>
            </a:r>
            <a:endParaRPr sz="27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098350" y="1580550"/>
            <a:ext cx="65634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 store booked Appointments 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 view Appointments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 store cancelled Appointments(push)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 restore cancelled Appointments(pop)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Linked List?...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147350" y="147350"/>
            <a:ext cx="8693100" cy="46881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●"/>
            </a:pPr>
            <a:r>
              <a:rPr lang="en-GB" sz="22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Dynamic Memory Allocation </a:t>
            </a:r>
            <a:endParaRPr sz="22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○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Memory can be allocated allocated at time run time 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●"/>
            </a:pPr>
            <a:r>
              <a:rPr lang="en-GB" sz="22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Efficient Insertions</a:t>
            </a:r>
            <a:endParaRPr sz="22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○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 insertion of node can be done at desired positions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●"/>
            </a:pPr>
            <a:r>
              <a:rPr lang="en-GB" sz="22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Easy Deletions</a:t>
            </a:r>
            <a:endParaRPr sz="22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○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Like insertion deletion can be done at desired positions</a:t>
            </a:r>
            <a:endParaRPr sz="22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Stack is used?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180875" y="152400"/>
            <a:ext cx="8693100" cy="46881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42025" y="1151925"/>
            <a:ext cx="8170800" cy="3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●"/>
            </a:pPr>
            <a:r>
              <a:rPr lang="en-GB" sz="22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LIFO (Last In, First Out)</a:t>
            </a:r>
            <a:endParaRPr sz="22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○"/>
            </a:pPr>
            <a:r>
              <a:rPr lang="en-GB" sz="2000" b="1">
                <a:latin typeface="PT Sans Narrow"/>
                <a:ea typeface="PT Sans Narrow"/>
                <a:cs typeface="PT Sans Narrow"/>
                <a:sym typeface="PT Sans Narrow"/>
              </a:rPr>
              <a:t>The last appointment that was canceled is the first one that should be</a:t>
            </a:r>
            <a:endParaRPr sz="2000" b="1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PT Sans Narrow"/>
                <a:ea typeface="PT Sans Narrow"/>
                <a:cs typeface="PT Sans Narrow"/>
                <a:sym typeface="PT Sans Narrow"/>
              </a:rPr>
              <a:t>              restored</a:t>
            </a:r>
            <a:endParaRPr sz="2000" b="1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●"/>
            </a:pPr>
            <a:r>
              <a:rPr lang="en-GB" sz="22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Undo Functionality</a:t>
            </a:r>
            <a:endParaRPr sz="22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○"/>
            </a:pPr>
            <a:r>
              <a:rPr lang="en-GB" sz="2000" b="1">
                <a:latin typeface="PT Sans Narrow"/>
                <a:ea typeface="PT Sans Narrow"/>
                <a:cs typeface="PT Sans Narrow"/>
                <a:sym typeface="PT Sans Narrow"/>
              </a:rPr>
              <a:t>Push = Save canceled appointment.</a:t>
            </a:r>
            <a:endParaRPr sz="2000" b="1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PT Sans Narrow"/>
              <a:buChar char="○"/>
            </a:pPr>
            <a:r>
              <a:rPr lang="en-GB" sz="2000" b="1">
                <a:latin typeface="PT Sans Narrow"/>
                <a:ea typeface="PT Sans Narrow"/>
                <a:cs typeface="PT Sans Narrow"/>
                <a:sym typeface="PT Sans Narrow"/>
              </a:rPr>
              <a:t>Pop = Restore last canceled appointment</a:t>
            </a:r>
            <a:endParaRPr sz="2000" b="1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T Sans Narrow"/>
              <a:buChar char="●"/>
            </a:pPr>
            <a:r>
              <a:rPr lang="en-GB" sz="22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Simple Implementation</a:t>
            </a:r>
            <a:endParaRPr sz="22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4254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100"/>
              <a:buFont typeface="PT Sans Narrow"/>
              <a:buChar char="○"/>
            </a:pPr>
            <a:r>
              <a:rPr lang="en-GB" sz="2000" b="1">
                <a:latin typeface="PT Sans Narrow"/>
                <a:ea typeface="PT Sans Narrow"/>
                <a:cs typeface="PT Sans Narrow"/>
                <a:sym typeface="PT Sans Narrow"/>
              </a:rPr>
              <a:t>With just </a:t>
            </a:r>
            <a:r>
              <a:rPr lang="en-GB" sz="2000" b="1">
                <a:solidFill>
                  <a:srgbClr val="188038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push</a:t>
            </a:r>
            <a:r>
              <a:rPr lang="en-GB" sz="2000" b="1">
                <a:latin typeface="PT Sans Narrow"/>
                <a:ea typeface="PT Sans Narrow"/>
                <a:cs typeface="PT Sans Narrow"/>
                <a:sym typeface="PT Sans Narrow"/>
              </a:rPr>
              <a:t> and </a:t>
            </a:r>
            <a:r>
              <a:rPr lang="en-GB" sz="2000" b="1">
                <a:solidFill>
                  <a:srgbClr val="188038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pop</a:t>
            </a:r>
            <a:r>
              <a:rPr lang="en-GB" sz="2000" b="1">
                <a:latin typeface="PT Sans Narrow"/>
                <a:ea typeface="PT Sans Narrow"/>
                <a:cs typeface="PT Sans Narrow"/>
                <a:sym typeface="PT Sans Narrow"/>
              </a:rPr>
              <a:t>, you can manage undo operations without needing to modify the main linked list structure.</a:t>
            </a:r>
            <a:endParaRPr sz="31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Operations using Linked list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139200" y="108950"/>
            <a:ext cx="8693100" cy="46881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PT Sans Narrow"/>
              <a:buAutoNum type="arabicPeriod"/>
            </a:pPr>
            <a:r>
              <a:rPr lang="en-GB" sz="21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Book Appointment</a:t>
            </a:r>
            <a:endParaRPr sz="21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T Sans Narrow"/>
              <a:buChar char="○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Insertion in linked list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PT Sans Narrow"/>
              <a:buAutoNum type="arabicPeriod"/>
            </a:pPr>
            <a:r>
              <a:rPr lang="en-GB" sz="21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Cancel Appointment</a:t>
            </a:r>
            <a:endParaRPr sz="21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T Sans Narrow"/>
              <a:buChar char="○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Deletion in linked list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PT Sans Narrow"/>
              <a:buAutoNum type="arabicPeriod"/>
            </a:pPr>
            <a:r>
              <a:rPr lang="en-GB" sz="21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View Appointments</a:t>
            </a:r>
            <a:endParaRPr sz="21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T Sans Narrow"/>
              <a:buChar char="○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Traversal of linked list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464100" y="597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Operations using Stack</a:t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225450" y="170850"/>
            <a:ext cx="8693100" cy="46881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464100" y="14187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T Sans Narrow"/>
              <a:buAutoNum type="arabicPeriod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Cancel Appointment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T Sans Narrow"/>
              <a:buChar char="○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Push the cancelled Appointment to stack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T Sans Narrow"/>
              <a:buAutoNum type="arabicPeriod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Restore cancelled Appointment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T Sans Narrow"/>
              <a:buChar char="○"/>
            </a:pPr>
            <a:r>
              <a:rPr lang="en-GB" sz="2000" b="1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Pop/Peek the cancelled Appointment from stack </a:t>
            </a: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b="1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l="9300" t="13688" r="7876" b="47266"/>
          <a:stretch/>
        </p:blipFill>
        <p:spPr>
          <a:xfrm>
            <a:off x="1566163" y="827100"/>
            <a:ext cx="6011675" cy="1889374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 l="9516" t="97333" r="7661" b="43000"/>
          <a:stretch/>
        </p:blipFill>
        <p:spPr>
          <a:xfrm rot="10800000" flipH="1">
            <a:off x="1566175" y="2908576"/>
            <a:ext cx="6011675" cy="1951849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3" name="Google Shape;133;p21"/>
          <p:cNvSpPr txBox="1"/>
          <p:nvPr/>
        </p:nvSpPr>
        <p:spPr>
          <a:xfrm>
            <a:off x="1999350" y="58800"/>
            <a:ext cx="5145300" cy="6585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Appointment Management Flow</a:t>
            </a:r>
            <a:endParaRPr sz="3400" b="1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9AE7D7-1BB9-6C26-7307-B52D1BF818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40" t="56548" r="11040" b="5503"/>
          <a:stretch>
            <a:fillRect/>
          </a:stretch>
        </p:blipFill>
        <p:spPr>
          <a:xfrm>
            <a:off x="1566150" y="2908576"/>
            <a:ext cx="6011676" cy="1951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2911050" y="120550"/>
            <a:ext cx="33219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Book Appointments(Insertion)</a:t>
            </a:r>
            <a:endParaRPr sz="2300" b="1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120550" y="642950"/>
            <a:ext cx="4272900" cy="4326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// Book Appointment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void bookAppointment() 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if(doctorCount == 0){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printf("No doctors available!\n\n");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return;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struct Appointment* newAppt = (struct Appointment*)malloc(sizeof(struct Appointment));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newAppt-&gt;token = tokenCounter++;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printf("Enter Patient Name: ");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scanf(" %[^\n]s", newAppt-&gt;patient);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printf("Enter Contact: ");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scanf(" %[^\n]s", newAppt-&gt;contact);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printf("Choose Department:\n");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for(int i=0;i&lt;deptCount;i++){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printf("%d. %s\n", i+1, departments[i].name);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</a:t>
            </a:r>
            <a:endParaRPr b="1"/>
          </a:p>
        </p:txBody>
      </p:sp>
      <p:sp>
        <p:nvSpPr>
          <p:cNvPr id="140" name="Google Shape;140;p22"/>
          <p:cNvSpPr txBox="1"/>
          <p:nvPr/>
        </p:nvSpPr>
        <p:spPr>
          <a:xfrm>
            <a:off x="4639575" y="642950"/>
            <a:ext cx="4272900" cy="4326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int d;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scanf("%d", &amp;d);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strcpy(newAppt-&gt;department, departments[d-1].name);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printf("Choose Doctor:\n");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int count = 1;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int docIndex[MAX];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for(int i=0;i&lt;doctorCount;i++){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if(strcmp(doctors[i].department, newAppt-&gt;department)==0){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printf("%d. %s\n", count, doctors[i].name);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docIndex[count-1]=i;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count++;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int docChoice;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scanf("%d", &amp;docChoice);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152400" y="112225"/>
            <a:ext cx="4272900" cy="4870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strcpy(newAppt-&gt;doctor, doctors[docIndex[docChoice-1]].name);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// Time input with conflict check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int valid = 0;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while(!valid){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printf("Enter Time (HH:MM): ");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scanf(" %[^\n]s", newAppt-&gt;time);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// Check for conflicts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struct Appointment* temp = head;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valid = 1; // assume valid until conflict found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while(temp != NULL){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if(strcmp(temp-&gt;doctor, newAppt-&gt;doctor)==0 &amp;&amp; strcmp(temp-&gt;time, newAppt-&gt;time)==0){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    printf(" Time slot already booked with %s at %s. Please choose another time.\n",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            newAppt-&gt;doctor, newAppt-&gt;time);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4572000" y="112225"/>
            <a:ext cx="4272900" cy="4870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    valid = 0;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    break;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    temp = temp-&gt;next;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newAppt-&gt;next = NULL;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// Add to linked list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if(head == NULL) head = newAppt;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else 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struct Appointment* temp = head;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while(temp-&gt;next != NULL) temp = temp-&gt;next;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    temp-&gt;next = newAppt;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    printf(" Appointment booked successfully! Token No: %d\n\n", newAppt-&gt;token);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532500" cy="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52" name="Google Shape;152;p24"/>
          <p:cNvSpPr txBox="1"/>
          <p:nvPr/>
        </p:nvSpPr>
        <p:spPr>
          <a:xfrm>
            <a:off x="2306650" y="495725"/>
            <a:ext cx="4272900" cy="451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void viewAppointments() {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if(head==NULL){ printf("No appointments found.\n\n"); return; }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struct Appointment* temp = head;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printf("\n--- All Appointments ---\n");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while(temp != NULL){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    printf("Token: %d | Name: %s | Contact: %s | Department: %s | Doctor: %s | Time: %s\n",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           temp-&gt;token, temp-&gt;patient, temp-&gt;contact, temp-&gt;department, temp-&gt;doctor, temp-&gt;time);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    temp=temp-&gt;next;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    printf("\n");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2544950" y="0"/>
            <a:ext cx="38979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View Appointments(Traversal)</a:t>
            </a:r>
            <a:endParaRPr sz="2500" b="1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4663075" y="495600"/>
            <a:ext cx="4272900" cy="451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if(temp==NULL){ printf("Appointment not found!\n\n"); return; }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if(prev==NULL) head=temp-&gt;next;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else prev-&gt;next=temp-&gt;next;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temp-&gt;next=NULL;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push(temp);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printf("Appointment canceled successfully!\n\n");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180975" y="495600"/>
            <a:ext cx="4272900" cy="451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void cancelAppointment() {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if(head==NULL){ printf("No appointments to cancel.\n\n"); return; }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int token;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printf("Enter Token to cancel: ");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scanf("%d", &amp;token);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struct Appointment *temp=head,*prev=NULL;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while(temp!=NULL &amp;&amp; temp-&gt;token!=token){ prev=temp; temp=temp-&gt;next; }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1393025" y="0"/>
            <a:ext cx="60009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Cancel Appointment(Deletion from LL&amp;Push into Stack)</a:t>
            </a:r>
            <a:endParaRPr sz="2300" b="1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2129725" y="0"/>
            <a:ext cx="42060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40"/>
              <a:t>Undo Cancellation (Pop)</a:t>
            </a:r>
            <a:endParaRPr sz="3040"/>
          </a:p>
        </p:txBody>
      </p:sp>
      <p:sp>
        <p:nvSpPr>
          <p:cNvPr id="166" name="Google Shape;166;p26"/>
          <p:cNvSpPr txBox="1"/>
          <p:nvPr/>
        </p:nvSpPr>
        <p:spPr>
          <a:xfrm>
            <a:off x="2096275" y="602850"/>
            <a:ext cx="4272900" cy="4460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void undoCancellation() {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struct Appointment* last = pop();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if(last==NULL){ printf("No canceled appointments.\n\n"); return; }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if(head==NULL) head=last;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else {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    struct Appointment* temp=head;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    while(temp-&gt;next!=NULL) temp=temp-&gt;next;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    temp-&gt;next=last;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    printf("Last canceled appointment restored! Token: %d\n\n", last-&gt;token);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body" idx="1"/>
          </p:nvPr>
        </p:nvSpPr>
        <p:spPr>
          <a:xfrm>
            <a:off x="459025" y="468800"/>
            <a:ext cx="3295200" cy="4519200"/>
          </a:xfrm>
          <a:prstGeom prst="rect">
            <a:avLst/>
          </a:prstGeom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=== Hospital System ===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1. Book Appointment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2. View Appointments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3. Cancel Appointment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4. Undo Last Cancel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5. Exit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Enter choice: 1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Enter Patient Name: abc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Enter Contact: 123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Choose Department: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1. Cardiolog</a:t>
            </a:r>
            <a:r>
              <a:rPr lang="en-GB" sz="1475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endParaRPr sz="1475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475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2. Neurology</a:t>
            </a:r>
            <a:endParaRPr sz="1475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475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675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27"/>
          <p:cNvSpPr txBox="1">
            <a:spLocks noGrp="1"/>
          </p:cNvSpPr>
          <p:nvPr>
            <p:ph type="body" idx="1"/>
          </p:nvPr>
        </p:nvSpPr>
        <p:spPr>
          <a:xfrm>
            <a:off x="5009550" y="468825"/>
            <a:ext cx="3295200" cy="4519200"/>
          </a:xfrm>
          <a:prstGeom prst="rect">
            <a:avLst/>
          </a:prstGeom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3. Orthopedics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4. Pediatrics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5. Dermatology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Choose Doctor: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1. Dr. Smith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2. Dr. Johnson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Enter Time (HH:MM): 10:00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-GB" sz="147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Appointment booked successfully! Token No: 1</a:t>
            </a:r>
            <a:endParaRPr sz="147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3032200" y="0"/>
            <a:ext cx="25317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Book Appointments</a:t>
            </a:r>
            <a:endParaRPr sz="2900" b="1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311700" y="696525"/>
            <a:ext cx="3947700" cy="3872400"/>
          </a:xfrm>
          <a:prstGeom prst="rect">
            <a:avLst/>
          </a:prstGeom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7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=== Hospital System ===</a:t>
            </a: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7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1. Book Appointment</a:t>
            </a: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7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2. View Appointments</a:t>
            </a: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7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3. Cancel Appointment</a:t>
            </a: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7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4. Undo Last Cancel</a:t>
            </a: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7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5. Exit</a:t>
            </a: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7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Enter choice: 2</a:t>
            </a: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7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4763750" y="696525"/>
            <a:ext cx="4130100" cy="3872400"/>
          </a:xfrm>
          <a:prstGeom prst="rect">
            <a:avLst/>
          </a:prstGeom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 All Appointments ---</a:t>
            </a:r>
            <a:endParaRPr sz="17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Token: 1 | Name: abc | Contact: 123 | Department: Cardiology | Doctor: Dr. Smith | Time: 10;00</a:t>
            </a:r>
            <a:endParaRPr sz="17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Token: 2 | Name: bcd | Contact: 234 | Department: Neurology | Doctor: Dr. Lee | Time: 9:00</a:t>
            </a:r>
            <a:endParaRPr sz="17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3161100" y="80375"/>
            <a:ext cx="25317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View Appointments</a:t>
            </a:r>
            <a:endParaRPr sz="2900" b="1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>
            <a:spLocks noGrp="1"/>
          </p:cNvSpPr>
          <p:nvPr>
            <p:ph type="body" idx="1"/>
          </p:nvPr>
        </p:nvSpPr>
        <p:spPr>
          <a:xfrm>
            <a:off x="2598150" y="581050"/>
            <a:ext cx="3947700" cy="4334700"/>
          </a:xfrm>
          <a:prstGeom prst="rect">
            <a:avLst/>
          </a:prstGeom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=== Hospital System ===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1. Book Appointment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2. View Appointments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3. Cancel Appointment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4. Undo Last Cancel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5. Exit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Enter choice: 3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Enter Token to cancel: 1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5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Appointment canceled successfully!</a:t>
            </a: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825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3174500" y="0"/>
            <a:ext cx="2895742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Cancel Appointments</a:t>
            </a:r>
            <a:endParaRPr sz="2900" b="1" dirty="0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>
            <a:spLocks noGrp="1"/>
          </p:cNvSpPr>
          <p:nvPr>
            <p:ph type="body" idx="1"/>
          </p:nvPr>
        </p:nvSpPr>
        <p:spPr>
          <a:xfrm>
            <a:off x="2598150" y="581050"/>
            <a:ext cx="3947700" cy="4334700"/>
          </a:xfrm>
          <a:prstGeom prst="rect">
            <a:avLst/>
          </a:prstGeom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=== Hospital System ===</a:t>
            </a: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1. Book Appointment</a:t>
            </a: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2. View Appointments</a:t>
            </a: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3. Cancel Appointment</a:t>
            </a: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4. Undo Last Cancel</a:t>
            </a: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5. Exit</a:t>
            </a: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Enter choice: 4</a:t>
            </a: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Last canceled appointment restored! Token: 1</a:t>
            </a: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900"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3013775" y="-35150"/>
            <a:ext cx="29469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Restore Appointments</a:t>
            </a:r>
            <a:endParaRPr sz="2900" b="1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840"/>
              <a:t>Conclusion</a:t>
            </a:r>
            <a:endParaRPr sz="3840"/>
          </a:p>
        </p:txBody>
      </p:sp>
      <p:sp>
        <p:nvSpPr>
          <p:cNvPr id="198" name="Google Shape;198;p31"/>
          <p:cNvSpPr/>
          <p:nvPr/>
        </p:nvSpPr>
        <p:spPr>
          <a:xfrm>
            <a:off x="139200" y="90475"/>
            <a:ext cx="8693100" cy="46881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This project demonstrates the use of Linked List and Stack data structures in a real-life application like hospital appointment systems. It provides practical exposure to dynamic memory handling, stack operations, and menu-driven programming in C.</a:t>
            </a:r>
            <a:endParaRPr sz="29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9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11"/>
              <a:t>References:</a:t>
            </a:r>
            <a:endParaRPr sz="3711"/>
          </a:p>
        </p:txBody>
      </p:sp>
      <p:sp>
        <p:nvSpPr>
          <p:cNvPr id="205" name="Google Shape;205;p32"/>
          <p:cNvSpPr/>
          <p:nvPr/>
        </p:nvSpPr>
        <p:spPr>
          <a:xfrm>
            <a:off x="225450" y="95550"/>
            <a:ext cx="8693100" cy="46881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PT Sans Narrow"/>
              <a:buChar char="❖"/>
            </a:pPr>
            <a:r>
              <a:rPr lang="en-GB" sz="21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Classic Data Structures  - D.Samantha</a:t>
            </a:r>
            <a:endParaRPr sz="21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PT Sans Narrow"/>
              <a:buChar char="❖"/>
            </a:pPr>
            <a:r>
              <a:rPr lang="en-GB" sz="21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Fundamentals of Data Structures - Ellis Horowitz Sartaj Sahni</a:t>
            </a:r>
            <a:endParaRPr sz="21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Font typeface="PT Sans Narrow"/>
              <a:buChar char="❖"/>
            </a:pPr>
            <a:r>
              <a:rPr lang="en-GB" sz="2100" b="1">
                <a:solidFill>
                  <a:schemeClr val="accent5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Lecture Notes</a:t>
            </a:r>
            <a:endParaRPr sz="2100" b="1">
              <a:solidFill>
                <a:schemeClr val="accent5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1560725" y="1540050"/>
            <a:ext cx="6018000" cy="1682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/>
              <a:t>Thank You</a:t>
            </a:r>
            <a:endParaRPr sz="96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1460</Words>
  <Application>Microsoft Office PowerPoint</Application>
  <PresentationFormat>On-screen Show (16:9)</PresentationFormat>
  <Paragraphs>220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PT Sans Narrow</vt:lpstr>
      <vt:lpstr>Arial</vt:lpstr>
      <vt:lpstr>Courier New</vt:lpstr>
      <vt:lpstr>Open Sans</vt:lpstr>
      <vt:lpstr>Consolas</vt:lpstr>
      <vt:lpstr>Tropic</vt:lpstr>
      <vt:lpstr>Hospital Appointment System </vt:lpstr>
      <vt:lpstr>Objectives..</vt:lpstr>
      <vt:lpstr>Data Structures Used…</vt:lpstr>
      <vt:lpstr>Why Linked List?...</vt:lpstr>
      <vt:lpstr>Why Stack is used?</vt:lpstr>
      <vt:lpstr>Operations using Linked list</vt:lpstr>
      <vt:lpstr>Operations using Stack</vt:lpstr>
      <vt:lpstr>PowerPoint Presentation</vt:lpstr>
      <vt:lpstr>PowerPoint Presentation</vt:lpstr>
      <vt:lpstr>PowerPoint Presentation</vt:lpstr>
      <vt:lpstr>  </vt:lpstr>
      <vt:lpstr>PowerPoint Presentation</vt:lpstr>
      <vt:lpstr>Undo Cancellation (Pop)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Thej Prasanth</cp:lastModifiedBy>
  <cp:revision>2</cp:revision>
  <dcterms:modified xsi:type="dcterms:W3CDTF">2026-07-12T16:53:23Z</dcterms:modified>
</cp:coreProperties>
</file>